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cf624ed6a4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cf624ed6a4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cf624ed6a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cf624ed6a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cf624ed6a4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cf624ed6a4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cf624ed6a4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cf624ed6a4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cf624ed6a4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cf624ed6a4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cf624ed6a4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cf624ed6a4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cf624ed6a4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cf624ed6a4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cf624ed6a4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cf624ed6a4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cf624ed6a4_0_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cf624ed6a4_0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cf624ed6a4_0_1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cf624ed6a4_0_1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cf624ed6a4_0_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3cf624ed6a4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cf624ed6a4_0_1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cf624ed6a4_0_1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cf624ed6a4_0_1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3cf624ed6a4_0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cf624ed6a4_0_1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3cf624ed6a4_0_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cf624ed6a4_0_1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3cf624ed6a4_0_1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cf624ed6a4_0_1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3cf624ed6a4_0_1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cf624ed6a4_0_1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3cf624ed6a4_0_1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cf624ed6a4_0_1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cf624ed6a4_0_1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cf624ed6a4_0_1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3cf624ed6a4_0_1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cf624ed6a4_0_1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3cf624ed6a4_0_1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Relationship Id="rId4" Type="http://schemas.openxmlformats.org/officeDocument/2006/relationships/image" Target="../media/image15.png"/><Relationship Id="rId5" Type="http://schemas.openxmlformats.org/officeDocument/2006/relationships/image" Target="../media/image1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image" Target="../media/image1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7.png"/><Relationship Id="rId4" Type="http://schemas.openxmlformats.org/officeDocument/2006/relationships/image" Target="../media/image1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Relationship Id="rId4" Type="http://schemas.openxmlformats.org/officeDocument/2006/relationships/image" Target="../media/image1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7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Рекомендательные системы: финальный проект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473350" y="4097950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Работу выполнил - Мельников Павел ПМИ-1,2 2024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Аннотация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>
                <a:solidFill>
                  <a:schemeClr val="dk1"/>
                </a:solidFill>
              </a:rPr>
              <a:t>В рамках работы с рекомендательными системами, поставлена задача вычислить лучшую метрику, которая будет подбирать интересующие фильмы для пользователей</a:t>
            </a:r>
            <a:endParaRPr sz="1600">
              <a:solidFill>
                <a:schemeClr val="dk1"/>
              </a:solidFill>
            </a:endParaRPr>
          </a:p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600">
                <a:solidFill>
                  <a:schemeClr val="dk1"/>
                </a:solidFill>
              </a:rPr>
              <a:t>В работе рассмотрены основные принципы разработки микросервисов, особенности использования языка Kotlin и фреймворка  Spring, а также методы обеспечения безопасности и масштабируемости разработанного микросервиса.</a:t>
            </a:r>
            <a:endParaRPr sz="1600">
              <a:solidFill>
                <a:schemeClr val="dk1"/>
              </a:solidFill>
            </a:endParaRPr>
          </a:p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rgbClr val="91082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ru" sz="1600">
                <a:solidFill>
                  <a:schemeClr val="dk1"/>
                </a:solidFill>
              </a:rPr>
              <a:t>В рамках работы удалось реализовать основной функционал сервиса, провести интеграцию с смежными микросервисами и запустить систему на сервере</a:t>
            </a:r>
            <a:endParaRPr/>
          </a:p>
        </p:txBody>
      </p:sp>
      <p:sp>
        <p:nvSpPr>
          <p:cNvPr id="62" name="Google Shape;62;p14"/>
          <p:cNvSpPr txBox="1"/>
          <p:nvPr/>
        </p:nvSpPr>
        <p:spPr>
          <a:xfrm>
            <a:off x="8435350" y="4703625"/>
            <a:ext cx="649800" cy="35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chemeClr val="dk2"/>
                </a:solidFill>
              </a:rPr>
              <a:t>2</a:t>
            </a:r>
            <a:r>
              <a:rPr lang="ru" sz="1800">
                <a:solidFill>
                  <a:schemeClr val="dk2"/>
                </a:solidFill>
              </a:rPr>
              <a:t>/21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Цель работы</a:t>
            </a:r>
            <a:endParaRPr/>
          </a:p>
        </p:txBody>
      </p:sp>
      <p:sp>
        <p:nvSpPr>
          <p:cNvPr id="68" name="Google Shape;68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ru"/>
              <a:t>Цель получения лучшего результата метрики MAP@K для подбора наиболее подходящих фильмов пользователю онлайн кинотеатра, исходя из его предпочтений и персональных данных.</a:t>
            </a:r>
            <a:endParaRPr/>
          </a:p>
        </p:txBody>
      </p:sp>
      <p:sp>
        <p:nvSpPr>
          <p:cNvPr id="69" name="Google Shape;69;p15"/>
          <p:cNvSpPr txBox="1"/>
          <p:nvPr/>
        </p:nvSpPr>
        <p:spPr>
          <a:xfrm>
            <a:off x="8435350" y="4703625"/>
            <a:ext cx="649800" cy="35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chemeClr val="dk2"/>
                </a:solidFill>
              </a:rPr>
              <a:t>3</a:t>
            </a:r>
            <a:r>
              <a:rPr lang="ru" sz="1800">
                <a:solidFill>
                  <a:schemeClr val="dk2"/>
                </a:solidFill>
              </a:rPr>
              <a:t>/21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Постановка задачи</a:t>
            </a:r>
            <a:endParaRPr/>
          </a:p>
        </p:txBody>
      </p:sp>
      <p:sp>
        <p:nvSpPr>
          <p:cNvPr id="75" name="Google Shape;75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Провести разведочный анализ данных (EDA)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Выбрать модели </a:t>
            </a:r>
            <a:r>
              <a:rPr lang="ru"/>
              <a:t>рекомендательных</a:t>
            </a:r>
            <a:r>
              <a:rPr lang="ru"/>
              <a:t> систем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Обучить модели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Выбрать лучшую модель исходя из результатов метрик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Сформировать список рекомендованных фильмов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16"/>
          <p:cNvSpPr txBox="1"/>
          <p:nvPr/>
        </p:nvSpPr>
        <p:spPr>
          <a:xfrm>
            <a:off x="8435350" y="4703625"/>
            <a:ext cx="649800" cy="35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chemeClr val="dk2"/>
                </a:solidFill>
              </a:rPr>
              <a:t>4</a:t>
            </a:r>
            <a:r>
              <a:rPr lang="ru" sz="1800">
                <a:solidFill>
                  <a:schemeClr val="dk2"/>
                </a:solidFill>
              </a:rPr>
              <a:t>/21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Анализ данных</a:t>
            </a:r>
            <a:endParaRPr/>
          </a:p>
        </p:txBody>
      </p:sp>
      <p:sp>
        <p:nvSpPr>
          <p:cNvPr id="82" name="Google Shape;82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ru"/>
              <a:t>Мы имеем три таблицы, с которыми будем работать: Пользователи, фильмы и действия.</a:t>
            </a:r>
            <a:endParaRPr/>
          </a:p>
        </p:txBody>
      </p:sp>
      <p:sp>
        <p:nvSpPr>
          <p:cNvPr id="83" name="Google Shape;83;p17"/>
          <p:cNvSpPr txBox="1"/>
          <p:nvPr/>
        </p:nvSpPr>
        <p:spPr>
          <a:xfrm>
            <a:off x="8435350" y="4703625"/>
            <a:ext cx="649800" cy="35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chemeClr val="dk2"/>
                </a:solidFill>
              </a:rPr>
              <a:t>5</a:t>
            </a:r>
            <a:r>
              <a:rPr lang="ru" sz="1800">
                <a:solidFill>
                  <a:schemeClr val="dk2"/>
                </a:solidFill>
              </a:rPr>
              <a:t>/21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Users</a:t>
            </a:r>
            <a:endParaRPr/>
          </a:p>
        </p:txBody>
      </p:sp>
      <p:sp>
        <p:nvSpPr>
          <p:cNvPr id="89" name="Google Shape;89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ru"/>
              <a:t>Имеем таблицу пользователей, в ней </a:t>
            </a:r>
            <a:r>
              <a:rPr lang="ru"/>
              <a:t>присутствуют</a:t>
            </a:r>
            <a:r>
              <a:rPr lang="ru"/>
              <a:t> пропуски, их лучше заполнить. </a:t>
            </a:r>
            <a:endParaRPr/>
          </a:p>
        </p:txBody>
      </p:sp>
      <p:pic>
        <p:nvPicPr>
          <p:cNvPr id="90" name="Google Shape;90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5000" y="2341112"/>
            <a:ext cx="4652050" cy="2003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78575" y="1719050"/>
            <a:ext cx="2279368" cy="324810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8"/>
          <p:cNvSpPr txBox="1"/>
          <p:nvPr/>
        </p:nvSpPr>
        <p:spPr>
          <a:xfrm>
            <a:off x="8435350" y="4703625"/>
            <a:ext cx="649800" cy="35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chemeClr val="dk2"/>
                </a:solidFill>
              </a:rPr>
              <a:t>6</a:t>
            </a:r>
            <a:r>
              <a:rPr lang="ru" sz="1800">
                <a:solidFill>
                  <a:schemeClr val="dk2"/>
                </a:solidFill>
              </a:rPr>
              <a:t>/21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9"/>
          <p:cNvSpPr txBox="1"/>
          <p:nvPr>
            <p:ph idx="1" type="body"/>
          </p:nvPr>
        </p:nvSpPr>
        <p:spPr>
          <a:xfrm>
            <a:off x="311700" y="300125"/>
            <a:ext cx="2994900" cy="74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ru"/>
              <a:t>Проведем анализ данных пользователей</a:t>
            </a:r>
            <a:endParaRPr/>
          </a:p>
        </p:txBody>
      </p:sp>
      <p:pic>
        <p:nvPicPr>
          <p:cNvPr id="98" name="Google Shape;98;p19"/>
          <p:cNvPicPr preferRelativeResize="0"/>
          <p:nvPr/>
        </p:nvPicPr>
        <p:blipFill rotWithShape="1">
          <a:blip r:embed="rId3">
            <a:alphaModFix/>
          </a:blip>
          <a:srcRect b="0" l="0" r="-1874" t="-12461"/>
          <a:stretch/>
        </p:blipFill>
        <p:spPr>
          <a:xfrm>
            <a:off x="-42750" y="2489325"/>
            <a:ext cx="4701299" cy="2654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76450" y="0"/>
            <a:ext cx="4867551" cy="2489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658550" y="2849570"/>
            <a:ext cx="4485451" cy="2293929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9"/>
          <p:cNvSpPr txBox="1"/>
          <p:nvPr/>
        </p:nvSpPr>
        <p:spPr>
          <a:xfrm>
            <a:off x="8435350" y="4703625"/>
            <a:ext cx="649800" cy="35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chemeClr val="dk2"/>
                </a:solidFill>
              </a:rPr>
              <a:t>7</a:t>
            </a:r>
            <a:r>
              <a:rPr lang="ru" sz="1800">
                <a:solidFill>
                  <a:schemeClr val="dk2"/>
                </a:solidFill>
              </a:rPr>
              <a:t>/21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0"/>
          <p:cNvSpPr txBox="1"/>
          <p:nvPr>
            <p:ph idx="1" type="body"/>
          </p:nvPr>
        </p:nvSpPr>
        <p:spPr>
          <a:xfrm>
            <a:off x="311700" y="3001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ru"/>
              <a:t>Теперь необходимо заполнить пропуски, категориальные данные будем заполнять модой, числовые - средним значением. </a:t>
            </a:r>
            <a:endParaRPr/>
          </a:p>
        </p:txBody>
      </p:sp>
      <p:pic>
        <p:nvPicPr>
          <p:cNvPr id="107" name="Google Shape;107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186925"/>
            <a:ext cx="4328801" cy="3853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98305" y="1186930"/>
            <a:ext cx="2213725" cy="298260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20"/>
          <p:cNvSpPr txBox="1"/>
          <p:nvPr/>
        </p:nvSpPr>
        <p:spPr>
          <a:xfrm>
            <a:off x="8435350" y="4703625"/>
            <a:ext cx="649800" cy="35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chemeClr val="dk2"/>
                </a:solidFill>
              </a:rPr>
              <a:t>8</a:t>
            </a:r>
            <a:r>
              <a:rPr lang="ru" sz="1800">
                <a:solidFill>
                  <a:schemeClr val="dk2"/>
                </a:solidFill>
              </a:rPr>
              <a:t>/21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Items</a:t>
            </a:r>
            <a:endParaRPr/>
          </a:p>
        </p:txBody>
      </p:sp>
      <p:sp>
        <p:nvSpPr>
          <p:cNvPr id="115" name="Google Shape;115;p21"/>
          <p:cNvSpPr txBox="1"/>
          <p:nvPr>
            <p:ph idx="1" type="body"/>
          </p:nvPr>
        </p:nvSpPr>
        <p:spPr>
          <a:xfrm>
            <a:off x="311700" y="11083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ru"/>
              <a:t>В таблице фильмов имеем пропущенные значения, с ними будет несколько труднее, чем в таблице users, поскольку пропущенные категориальные данные нельзя заполнить модой, так как фильмы, в отличие от пользователей, не обезличены и проставить данные не </a:t>
            </a:r>
            <a:r>
              <a:rPr lang="ru"/>
              <a:t>соответствующие</a:t>
            </a:r>
            <a:r>
              <a:rPr lang="ru"/>
              <a:t> фильму будет ошибкой, также эта ошибка поведет за собой ухудшение работы алгоритма. Пропущенные числовые данные заполним средним значением.</a:t>
            </a:r>
            <a:endParaRPr/>
          </a:p>
        </p:txBody>
      </p:sp>
      <p:sp>
        <p:nvSpPr>
          <p:cNvPr id="116" name="Google Shape;116;p21"/>
          <p:cNvSpPr txBox="1"/>
          <p:nvPr/>
        </p:nvSpPr>
        <p:spPr>
          <a:xfrm>
            <a:off x="8435350" y="4703625"/>
            <a:ext cx="649800" cy="35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chemeClr val="dk2"/>
                </a:solidFill>
              </a:rPr>
              <a:t>9</a:t>
            </a:r>
            <a:r>
              <a:rPr lang="ru" sz="1800">
                <a:solidFill>
                  <a:schemeClr val="dk2"/>
                </a:solidFill>
              </a:rPr>
              <a:t>/21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Interactions</a:t>
            </a:r>
            <a:endParaRPr/>
          </a:p>
        </p:txBody>
      </p:sp>
      <p:sp>
        <p:nvSpPr>
          <p:cNvPr id="122" name="Google Shape;122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Основная таблица, в которой записаны действия пользователей с фильмами. Есть пропущенные данные, надо провести анализ.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"/>
              <a:t>Так как данных много и они очень важны для нас  </a:t>
            </a:r>
            <a:endParaRPr/>
          </a:p>
        </p:txBody>
      </p:sp>
      <p:pic>
        <p:nvPicPr>
          <p:cNvPr id="123" name="Google Shape;123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2665600"/>
            <a:ext cx="4949081" cy="146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76900" y="1878955"/>
            <a:ext cx="2587825" cy="3037300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22"/>
          <p:cNvSpPr txBox="1"/>
          <p:nvPr/>
        </p:nvSpPr>
        <p:spPr>
          <a:xfrm>
            <a:off x="8273675" y="4703625"/>
            <a:ext cx="811500" cy="35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chemeClr val="dk2"/>
                </a:solidFill>
              </a:rPr>
              <a:t>10</a:t>
            </a:r>
            <a:r>
              <a:rPr lang="ru" sz="1800">
                <a:solidFill>
                  <a:schemeClr val="dk2"/>
                </a:solidFill>
              </a:rPr>
              <a:t>/21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3"/>
          <p:cNvSpPr txBox="1"/>
          <p:nvPr>
            <p:ph idx="1" type="body"/>
          </p:nvPr>
        </p:nvSpPr>
        <p:spPr>
          <a:xfrm>
            <a:off x="311700" y="2707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Построим “ящик с усами” и увидим, что в данных по продолжительности фильма имеются выбросы, удалим их. Отсекаем выбросы, значения которых выше 1.5 межквартильных размахов (IQR)</a:t>
            </a:r>
            <a:endParaRPr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31" name="Google Shape;131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336415"/>
            <a:ext cx="4572000" cy="380708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98169" y="1410063"/>
            <a:ext cx="4445831" cy="36598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23"/>
          <p:cNvSpPr txBox="1"/>
          <p:nvPr/>
        </p:nvSpPr>
        <p:spPr>
          <a:xfrm>
            <a:off x="8273675" y="4703625"/>
            <a:ext cx="811500" cy="35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chemeClr val="dk2"/>
                </a:solidFill>
              </a:rPr>
              <a:t>11/21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4"/>
          <p:cNvSpPr txBox="1"/>
          <p:nvPr>
            <p:ph idx="1" type="body"/>
          </p:nvPr>
        </p:nvSpPr>
        <p:spPr>
          <a:xfrm>
            <a:off x="311700" y="94400"/>
            <a:ext cx="8520600" cy="143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ru"/>
              <a:t>Мы имеем параметр wathced_pct, показатели ниже 60% просмотра, была решено удалить, так как они создают шум и  негативно влияют на результаты моделей.</a:t>
            </a:r>
            <a:endParaRPr/>
          </a:p>
        </p:txBody>
      </p:sp>
      <p:pic>
        <p:nvPicPr>
          <p:cNvPr id="139" name="Google Shape;139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39800" y="1587200"/>
            <a:ext cx="4892501" cy="3139425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24"/>
          <p:cNvSpPr txBox="1"/>
          <p:nvPr/>
        </p:nvSpPr>
        <p:spPr>
          <a:xfrm>
            <a:off x="8273675" y="4703625"/>
            <a:ext cx="811500" cy="35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chemeClr val="dk2"/>
                </a:solidFill>
              </a:rPr>
              <a:t>12/21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Очистка данных</a:t>
            </a:r>
            <a:endParaRPr/>
          </a:p>
        </p:txBody>
      </p:sp>
      <p:sp>
        <p:nvSpPr>
          <p:cNvPr id="146" name="Google Shape;146;p25"/>
          <p:cNvSpPr txBox="1"/>
          <p:nvPr>
            <p:ph idx="1" type="body"/>
          </p:nvPr>
        </p:nvSpPr>
        <p:spPr>
          <a:xfrm>
            <a:off x="311700" y="1152475"/>
            <a:ext cx="32055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ru"/>
              <a:t>Также, для уменьшения шума в данных, уберем пользователей, у которых меньше 3-х действий и фильмы, у которых меньше 10 просмотров</a:t>
            </a:r>
            <a:endParaRPr/>
          </a:p>
        </p:txBody>
      </p:sp>
      <p:pic>
        <p:nvPicPr>
          <p:cNvPr id="147" name="Google Shape;147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17350" y="1152463"/>
            <a:ext cx="5314950" cy="3152775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25"/>
          <p:cNvSpPr txBox="1"/>
          <p:nvPr/>
        </p:nvSpPr>
        <p:spPr>
          <a:xfrm>
            <a:off x="8273675" y="4703625"/>
            <a:ext cx="811500" cy="35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chemeClr val="dk2"/>
                </a:solidFill>
              </a:rPr>
              <a:t>13/21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6"/>
          <p:cNvSpPr txBox="1"/>
          <p:nvPr>
            <p:ph idx="1" type="body"/>
          </p:nvPr>
        </p:nvSpPr>
        <p:spPr>
          <a:xfrm>
            <a:off x="311700" y="211950"/>
            <a:ext cx="2303700" cy="465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ru"/>
              <a:t>Построим график связи пола пользователя и типа контента. По графику видно, что и мужчины и женщины больше смотрят фильмы, нежели сериалы</a:t>
            </a:r>
            <a:endParaRPr/>
          </a:p>
        </p:txBody>
      </p:sp>
      <p:pic>
        <p:nvPicPr>
          <p:cNvPr id="154" name="Google Shape;154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15250" y="338000"/>
            <a:ext cx="6528750" cy="4526275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26"/>
          <p:cNvSpPr txBox="1"/>
          <p:nvPr/>
        </p:nvSpPr>
        <p:spPr>
          <a:xfrm>
            <a:off x="8273675" y="4703625"/>
            <a:ext cx="811500" cy="35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chemeClr val="dk2"/>
                </a:solidFill>
              </a:rPr>
              <a:t>14</a:t>
            </a:r>
            <a:r>
              <a:rPr lang="ru" sz="1800">
                <a:solidFill>
                  <a:schemeClr val="dk2"/>
                </a:solidFill>
              </a:rPr>
              <a:t>/21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7"/>
          <p:cNvSpPr txBox="1"/>
          <p:nvPr>
            <p:ph idx="1" type="body"/>
          </p:nvPr>
        </p:nvSpPr>
        <p:spPr>
          <a:xfrm>
            <a:off x="0" y="0"/>
            <a:ext cx="1425600" cy="514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ru"/>
              <a:t>тепловая карта зависимости дохода и типа контента</a:t>
            </a:r>
            <a:endParaRPr/>
          </a:p>
        </p:txBody>
      </p:sp>
      <p:pic>
        <p:nvPicPr>
          <p:cNvPr id="161" name="Google Shape;161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25475" y="0"/>
            <a:ext cx="7718526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27"/>
          <p:cNvSpPr txBox="1"/>
          <p:nvPr/>
        </p:nvSpPr>
        <p:spPr>
          <a:xfrm>
            <a:off x="8273675" y="4703625"/>
            <a:ext cx="811500" cy="35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chemeClr val="dk2"/>
                </a:solidFill>
              </a:rPr>
              <a:t>15/21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7" name="Google Shape;167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630" y="0"/>
            <a:ext cx="9002756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28"/>
          <p:cNvSpPr txBox="1"/>
          <p:nvPr/>
        </p:nvSpPr>
        <p:spPr>
          <a:xfrm>
            <a:off x="6748500" y="1469575"/>
            <a:ext cx="2395500" cy="352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chemeClr val="dk2"/>
                </a:solidFill>
              </a:rPr>
              <a:t>Поделили все фильмы и сериалы на временные группы и смотрим кино каких годов смотрят больше всего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69" name="Google Shape;169;p28"/>
          <p:cNvSpPr txBox="1"/>
          <p:nvPr/>
        </p:nvSpPr>
        <p:spPr>
          <a:xfrm>
            <a:off x="8273675" y="4703625"/>
            <a:ext cx="811500" cy="35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chemeClr val="dk2"/>
                </a:solidFill>
              </a:rPr>
              <a:t>16/21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Меры центральной тенденции</a:t>
            </a:r>
            <a:endParaRPr/>
          </a:p>
        </p:txBody>
      </p:sp>
      <p:sp>
        <p:nvSpPr>
          <p:cNvPr id="175" name="Google Shape;175;p2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Среднестатистический</a:t>
            </a:r>
            <a:r>
              <a:rPr lang="ru"/>
              <a:t> пользователь онлайн-кинотеатра это женщина в возрасте 30 лет, имеющая зарплату в 30 тысяч рублей, смотрящая фильмы.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29"/>
          <p:cNvSpPr txBox="1"/>
          <p:nvPr/>
        </p:nvSpPr>
        <p:spPr>
          <a:xfrm>
            <a:off x="8273675" y="4703625"/>
            <a:ext cx="811500" cy="35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chemeClr val="dk2"/>
                </a:solidFill>
              </a:rPr>
              <a:t>17/21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Метрики</a:t>
            </a:r>
            <a:endParaRPr/>
          </a:p>
        </p:txBody>
      </p:sp>
      <p:sp>
        <p:nvSpPr>
          <p:cNvPr id="182" name="Google Shape;182;p30"/>
          <p:cNvSpPr txBox="1"/>
          <p:nvPr>
            <p:ph idx="1" type="body"/>
          </p:nvPr>
        </p:nvSpPr>
        <p:spPr>
          <a:xfrm>
            <a:off x="311700" y="1152475"/>
            <a:ext cx="62574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ru"/>
              <a:t>Среди имеющихся алгоритмов, надо выбрать лучшую метрику. Лучший результат показал ItemKNN (K-ближайших соседей по элементам), выберем его.</a:t>
            </a:r>
            <a:endParaRPr/>
          </a:p>
        </p:txBody>
      </p:sp>
      <p:pic>
        <p:nvPicPr>
          <p:cNvPr id="183" name="Google Shape;183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06150" y="1152475"/>
            <a:ext cx="1926160" cy="2952600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30"/>
          <p:cNvSpPr txBox="1"/>
          <p:nvPr/>
        </p:nvSpPr>
        <p:spPr>
          <a:xfrm>
            <a:off x="8273675" y="4703625"/>
            <a:ext cx="811500" cy="35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chemeClr val="dk2"/>
                </a:solidFill>
              </a:rPr>
              <a:t>18/21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Описание работы алгоритма</a:t>
            </a:r>
            <a:endParaRPr/>
          </a:p>
        </p:txBody>
      </p:sp>
      <p:sp>
        <p:nvSpPr>
          <p:cNvPr id="190" name="Google Shape;190;p31"/>
          <p:cNvSpPr txBox="1"/>
          <p:nvPr>
            <p:ph idx="1" type="body"/>
          </p:nvPr>
        </p:nvSpPr>
        <p:spPr>
          <a:xfrm>
            <a:off x="311700" y="1267550"/>
            <a:ext cx="74622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4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Обучение модели: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Алгоритм начинает с построения матрицы пользователей и элементов (user-item matrix), где строки представляют пользователей, а столбцы — элементы (фильмы).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Каждый элемент матрицы заполняется значением, указывающим на взаимодействие пользователя с элементом (например, просмотр или оценка).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Далее рассчитывается матрица схожести между элементами (item-item similarity) с использованием метрики, такой как косинусное сходство.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Рекомендации: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При запросе рекомендаций для конкретного пользователя алгоритм находит все элементы, которые этот пользователь уже оценил.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Затем он суммирует схожести этих элементов с остальными элементами, чтобы вычислить "оценку" для каждого элемента.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Элементы, которые пользователь уже оценил, исключаются из рекомендаций.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Алгоритм возвращает K элементов с наивысшими оценками.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31"/>
          <p:cNvSpPr txBox="1"/>
          <p:nvPr/>
        </p:nvSpPr>
        <p:spPr>
          <a:xfrm>
            <a:off x="8273675" y="4703625"/>
            <a:ext cx="811500" cy="35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chemeClr val="dk2"/>
                </a:solidFill>
              </a:rPr>
              <a:t>19/21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Результаты работы</a:t>
            </a:r>
            <a:endParaRPr/>
          </a:p>
        </p:txBody>
      </p:sp>
      <p:pic>
        <p:nvPicPr>
          <p:cNvPr id="197" name="Google Shape;197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63425" y="1239875"/>
            <a:ext cx="5217150" cy="3574050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32"/>
          <p:cNvSpPr txBox="1"/>
          <p:nvPr/>
        </p:nvSpPr>
        <p:spPr>
          <a:xfrm>
            <a:off x="8273675" y="4703625"/>
            <a:ext cx="811500" cy="35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chemeClr val="dk2"/>
                </a:solidFill>
              </a:rPr>
              <a:t>2</a:t>
            </a:r>
            <a:r>
              <a:rPr lang="ru" sz="1800">
                <a:solidFill>
                  <a:schemeClr val="dk2"/>
                </a:solidFill>
              </a:rPr>
              <a:t>0/21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33"/>
          <p:cNvSpPr txBox="1"/>
          <p:nvPr>
            <p:ph type="title"/>
          </p:nvPr>
        </p:nvSpPr>
        <p:spPr>
          <a:xfrm>
            <a:off x="2780700" y="2285400"/>
            <a:ext cx="3582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Спасибо за внимание!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